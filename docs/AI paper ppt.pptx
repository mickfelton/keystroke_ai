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sldIdLst>
    <p:sldId id="256" r:id="rId5"/>
    <p:sldId id="430" r:id="rId6"/>
    <p:sldId id="402" r:id="rId7"/>
    <p:sldId id="393" r:id="rId8"/>
    <p:sldId id="431" r:id="rId9"/>
    <p:sldId id="399" r:id="rId10"/>
    <p:sldId id="392" r:id="rId11"/>
    <p:sldId id="433" r:id="rId12"/>
    <p:sldId id="401" r:id="rId13"/>
    <p:sldId id="287" r:id="rId14"/>
    <p:sldId id="362" r:id="rId15"/>
  </p:sldIdLst>
  <p:sldSz cx="12192000" cy="6858000"/>
  <p:notesSz cx="6858000" cy="9144000"/>
  <p:defaultTextStyle>
    <a:defPPr>
      <a:defRPr lang="en-Q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174E6B-9483-4DE0-8904-A719B5CBCA4E}" v="217" dt="2025-02-23T20:20:55.9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Q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CC9782-BF36-3D44-AE7B-DEDCBDCE1B6F}" type="datetimeFigureOut">
              <a:rPr lang="en-QA" smtClean="0"/>
              <a:t>04/26/2025</a:t>
            </a:fld>
            <a:endParaRPr lang="en-Q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Q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Q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Q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B86C1A-9081-E644-990B-8D1DF1BAF97F}" type="slidenum">
              <a:rPr lang="en-QA" smtClean="0"/>
              <a:t>‹#›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3221768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B86C1A-9081-E644-990B-8D1DF1BAF97F}" type="slidenum">
              <a:rPr lang="en-QA" smtClean="0"/>
              <a:t>4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168350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3A5AC-20F8-734D-8118-5B093E4ACA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Q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3D22F4-2325-2D4F-8DB7-F5D1F8876A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Q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54C07-816B-624B-9814-0EB4DBDC6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658A3-7D13-6F48-B603-43E48ECC5162}" type="datetimeFigureOut">
              <a:rPr lang="en-QA" smtClean="0"/>
              <a:t>04/26/2025</a:t>
            </a:fld>
            <a:endParaRPr lang="en-Q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07E43-3155-1541-AD53-F6FBB600A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Q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3BD9C8-E25A-9540-B020-2DC5F0E9F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3C033-71B6-1146-953F-559FDDD23373}" type="slidenum">
              <a:rPr lang="en-QA" smtClean="0"/>
              <a:t>‹#›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409489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FE9FA-816B-E740-A372-D5FB71ADB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Q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EEE56-1528-6347-95C8-BD02A67839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Q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FB1A0-591E-F048-A354-74EC8BE1A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658A3-7D13-6F48-B603-43E48ECC5162}" type="datetimeFigureOut">
              <a:rPr lang="en-QA" smtClean="0"/>
              <a:t>04/26/2025</a:t>
            </a:fld>
            <a:endParaRPr lang="en-Q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42F75F-C219-7449-AEA7-DDEC859C1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Q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36C10-0227-A84B-A781-DDD4BA4B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3C033-71B6-1146-953F-559FDDD23373}" type="slidenum">
              <a:rPr lang="en-QA" smtClean="0"/>
              <a:t>‹#›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3852110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70A3D-DA39-C943-8EC8-58C0FFA8E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Q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88AFD2-A390-6741-98BE-82B3248BFF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9E265-CC41-2047-A015-920AB0D69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658A3-7D13-6F48-B603-43E48ECC5162}" type="datetimeFigureOut">
              <a:rPr lang="en-QA" smtClean="0"/>
              <a:t>04/26/2025</a:t>
            </a:fld>
            <a:endParaRPr lang="en-Q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730EE-3E5D-8149-B845-682FF48F2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Q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79B71-C1EE-0446-B961-9082BC55D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3C033-71B6-1146-953F-559FDDD23373}" type="slidenum">
              <a:rPr lang="en-QA" smtClean="0"/>
              <a:t>‹#›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2077517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FFFE2-209F-554C-9732-4940F76AA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Q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1CCC7-6A4E-1248-9997-45A4465667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Q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B503EE-0CB8-594A-95D9-704C34BD14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Q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30052E-4012-A243-B48E-915B60EB7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658A3-7D13-6F48-B603-43E48ECC5162}" type="datetimeFigureOut">
              <a:rPr lang="en-QA" smtClean="0"/>
              <a:t>04/26/2025</a:t>
            </a:fld>
            <a:endParaRPr lang="en-Q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818F33-96AB-8948-820E-2F17ECAD3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Q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F256BF-11F2-EC44-A706-C186090D6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3C033-71B6-1146-953F-559FDDD23373}" type="slidenum">
              <a:rPr lang="en-QA" smtClean="0"/>
              <a:t>‹#›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3060649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B22DC-82B7-E348-9B3A-AC6E83B0C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Q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AF114E-47EF-6F4D-B2F9-EC6D40ABCD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4310C4-E716-5049-AFAF-E8664F364B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Q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70BFD6-D6DC-AE42-9617-2A2D339B0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74B9B5-0B91-054C-865E-A81DBFCCD6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Q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06CB74-54B4-764C-BB09-F48D6A200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658A3-7D13-6F48-B603-43E48ECC5162}" type="datetimeFigureOut">
              <a:rPr lang="en-QA" smtClean="0"/>
              <a:t>04/26/2025</a:t>
            </a:fld>
            <a:endParaRPr lang="en-Q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E2E02C-F60C-E744-83E1-D9876AC9F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Q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466F30-6608-2341-92B8-CAFFAC71E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3C033-71B6-1146-953F-559FDDD23373}" type="slidenum">
              <a:rPr lang="en-QA" smtClean="0"/>
              <a:t>‹#›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133838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4C69-EE68-C643-B4FF-7DFC3DC22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Q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A18E2A-2EEC-AE41-85B0-3F9558245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658A3-7D13-6F48-B603-43E48ECC5162}" type="datetimeFigureOut">
              <a:rPr lang="en-QA" smtClean="0"/>
              <a:t>04/26/2025</a:t>
            </a:fld>
            <a:endParaRPr lang="en-Q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ACDB76-0903-584E-B3AB-BE20CE427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Q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883973-661E-9547-B053-5B5293838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3C033-71B6-1146-953F-559FDDD23373}" type="slidenum">
              <a:rPr lang="en-QA" smtClean="0"/>
              <a:t>‹#›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3096727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D0D0FB-8E51-504F-BD14-541B8938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658A3-7D13-6F48-B603-43E48ECC5162}" type="datetimeFigureOut">
              <a:rPr lang="en-QA" smtClean="0"/>
              <a:t>04/26/2025</a:t>
            </a:fld>
            <a:endParaRPr lang="en-Q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B780DC-2BC0-4944-99E1-8F135E2F9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Q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019CC-C839-5B4E-A21E-1B5D042BC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3C033-71B6-1146-953F-559FDDD23373}" type="slidenum">
              <a:rPr lang="en-QA" smtClean="0"/>
              <a:t>‹#›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1269428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9E43C-897F-C546-B0A4-4A990FFC9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Q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A3607-1372-7246-B7DB-6A37F7A9A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Q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72366D-C88A-EE4C-980A-6E65F5A997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D21C3-902B-AC47-87CE-42EC7C611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658A3-7D13-6F48-B603-43E48ECC5162}" type="datetimeFigureOut">
              <a:rPr lang="en-QA" smtClean="0"/>
              <a:t>04/26/2025</a:t>
            </a:fld>
            <a:endParaRPr lang="en-Q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D97FE7-43E3-5C49-AC52-B8BF1C10F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Q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E49613-4F3E-D348-BB0C-AFB96BB68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3C033-71B6-1146-953F-559FDDD23373}" type="slidenum">
              <a:rPr lang="en-QA" smtClean="0"/>
              <a:t>‹#›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1858875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9022-D421-604B-A6C7-8EBF2991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Q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E66277-141A-CC48-B65D-88FC040EFC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Q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7A6838-B3B3-CE43-9CB2-5FCD972844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2F4882-74CC-974B-A81E-48BC358B0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658A3-7D13-6F48-B603-43E48ECC5162}" type="datetimeFigureOut">
              <a:rPr lang="en-QA" smtClean="0"/>
              <a:t>04/26/2025</a:t>
            </a:fld>
            <a:endParaRPr lang="en-Q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A58782-489B-794F-AABA-5B1C870FE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Q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376D49-0297-9D46-8DFB-CC2B1E168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3C033-71B6-1146-953F-559FDDD23373}" type="slidenum">
              <a:rPr lang="en-QA" smtClean="0"/>
              <a:t>‹#›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3927763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98BDD-3065-D545-9FAF-0F4BF6A4E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Q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E87339-1FB6-7E41-8308-398346E682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Q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2D72B3-BDDF-B542-B214-3F48DF1C3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658A3-7D13-6F48-B603-43E48ECC5162}" type="datetimeFigureOut">
              <a:rPr lang="en-QA" smtClean="0"/>
              <a:t>04/26/2025</a:t>
            </a:fld>
            <a:endParaRPr lang="en-Q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D94B3-7A9B-0D47-995E-3EC1780DB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Q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4738F-5068-AB43-A029-3B6B01C93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3C033-71B6-1146-953F-559FDDD23373}" type="slidenum">
              <a:rPr lang="en-QA" smtClean="0"/>
              <a:t>‹#›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1228640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6A3D53-B06B-074A-9C38-F5017B1A6C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Q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901955-3265-EF40-88AA-510EF37CF5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Q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5477F-330E-014D-961B-8BA0E167E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658A3-7D13-6F48-B603-43E48ECC5162}" type="datetimeFigureOut">
              <a:rPr lang="en-QA" smtClean="0"/>
              <a:t>04/26/2025</a:t>
            </a:fld>
            <a:endParaRPr lang="en-Q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B780E-2A4C-6046-AACC-8C9523753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Q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7B5D0-2F7E-274E-AED2-E4A42AE11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3C033-71B6-1146-953F-559FDDD23373}" type="slidenum">
              <a:rPr lang="en-QA" smtClean="0"/>
              <a:t>‹#›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3758952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BDA1A2-977B-F045-BF53-8DABF452C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Q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A86B6-EC7A-DD49-98B3-15FFAB33E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Q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8B1F9-6EC3-4D4A-A0BF-36C9B125D8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0658A3-7D13-6F48-B603-43E48ECC5162}" type="datetimeFigureOut">
              <a:rPr lang="en-QA" smtClean="0"/>
              <a:t>04/26/2025</a:t>
            </a:fld>
            <a:endParaRPr lang="en-Q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9E262-BC31-8A4A-8194-607808DB2D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Q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C465A-247B-A34E-8AB5-20D3FF94D9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3C033-71B6-1146-953F-559FDDD23373}" type="slidenum">
              <a:rPr lang="en-QA" smtClean="0"/>
              <a:t>‹#›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3992268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Q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18A2D-1C5E-9B4A-85D1-5774D276A8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0843"/>
            <a:ext cx="9144000" cy="2387600"/>
          </a:xfrm>
        </p:spPr>
        <p:txBody>
          <a:bodyPr/>
          <a:lstStyle/>
          <a:p>
            <a:r>
              <a:rPr lang="en-IN" b="1" dirty="0"/>
              <a:t>Implementation Report</a:t>
            </a:r>
            <a:endParaRPr lang="en-QA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3DAD48-F178-924A-855C-C37710EF0A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968054"/>
            <a:ext cx="9144000" cy="2250122"/>
          </a:xfrm>
        </p:spPr>
        <p:txBody>
          <a:bodyPr>
            <a:noAutofit/>
          </a:bodyPr>
          <a:lstStyle/>
          <a:p>
            <a:r>
              <a:rPr lang="en-IN" sz="2800" b="1" dirty="0">
                <a:solidFill>
                  <a:srgbClr val="0070C0"/>
                </a:solidFill>
              </a:rPr>
              <a:t>CSN-371 Artificial Intelligence</a:t>
            </a:r>
          </a:p>
          <a:p>
            <a:r>
              <a:rPr lang="en-US" sz="2800" dirty="0"/>
              <a:t>Modified Distance Metric That Generates Better Performance For The Authentication Algorithm Based On Free-Text Keystroke Dynamics </a:t>
            </a:r>
            <a:endParaRPr lang="en-QA" sz="2800" b="1" dirty="0">
              <a:solidFill>
                <a:srgbClr val="0070C0"/>
              </a:solidFill>
            </a:endParaRPr>
          </a:p>
          <a:p>
            <a:r>
              <a:rPr lang="en-QA" sz="2800" dirty="0"/>
              <a:t>Mohammad </a:t>
            </a:r>
            <a:r>
              <a:rPr lang="en-IN" sz="2800" dirty="0"/>
              <a:t>Haaziq Jamal 22114055</a:t>
            </a:r>
          </a:p>
          <a:p>
            <a:r>
              <a:rPr lang="en-IN" sz="2800" b="1" dirty="0">
                <a:solidFill>
                  <a:srgbClr val="FF0000"/>
                </a:solidFill>
              </a:rPr>
              <a:t>IIT Roorkee</a:t>
            </a:r>
            <a:endParaRPr lang="en-QA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4468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7686D-EBC9-6DC4-47C6-7393BDC7D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2">
                <a:extLst>
                  <a:ext uri="{FF2B5EF4-FFF2-40B4-BE49-F238E27FC236}">
                    <a16:creationId xmlns:a16="http://schemas.microsoft.com/office/drawing/2014/main" id="{9F28A797-6798-78D4-6557-B0C9CAE622B9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6756400" y="1049059"/>
                <a:ext cx="5204070" cy="524310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dirty="0"/>
                  <a:t>The </a:t>
                </a:r>
                <a:r>
                  <a:rPr lang="en-US" dirty="0">
                    <a:solidFill>
                      <a:srgbClr val="00B050"/>
                    </a:solidFill>
                  </a:rPr>
                  <a:t>paper</a:t>
                </a:r>
                <a:r>
                  <a:rPr lang="en-US" dirty="0"/>
                  <a:t> proposes three key improvements for free-text keystroke authentication:</a:t>
                </a: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b="1" dirty="0"/>
                  <a:t>Optimal </a:t>
                </a:r>
                <a:r>
                  <a:rPr lang="en-US" b="1" dirty="0">
                    <a:solidFill>
                      <a:srgbClr val="FF0000"/>
                    </a:solidFill>
                  </a:rPr>
                  <a:t>Digraph</a:t>
                </a:r>
                <a:r>
                  <a:rPr lang="en-US" b="1" dirty="0"/>
                  <a:t> Selection</a:t>
                </a:r>
                <a:r>
                  <a:rPr lang="en-US" dirty="0"/>
                  <a:t>: Identified top 12 most frequent </a:t>
                </a:r>
                <a:r>
                  <a:rPr lang="en-US" dirty="0">
                    <a:solidFill>
                      <a:srgbClr val="FF0000"/>
                    </a:solidFill>
                  </a:rPr>
                  <a:t>digraphs</a:t>
                </a:r>
              </a:p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b="1" dirty="0"/>
                  <a:t>Time Interval Optimization</a:t>
                </a:r>
                <a:r>
                  <a:rPr lang="en-US" dirty="0"/>
                  <a:t>: Selected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𝐷𝑈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𝐷𝑈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𝐷𝑈𝑡𝑜𝑡𝑎𝑙</m:t>
                    </m:r>
                  </m:oMath>
                </a14:m>
                <a:r>
                  <a:rPr lang="en-US" dirty="0"/>
                  <a:t> intervals 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𝐷𝑈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baseline="-25000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br>
                  <a:rPr lang="en-US" baseline="-25000" dirty="0"/>
                </a:b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𝐷𝑈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baseline="-25000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baseline="-25000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𝑡𝑜𝑡𝑎𝑙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baseline="-25000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baseline="-25000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5" name="Rectangle 2">
                <a:extLst>
                  <a:ext uri="{FF2B5EF4-FFF2-40B4-BE49-F238E27FC236}">
                    <a16:creationId xmlns:a16="http://schemas.microsoft.com/office/drawing/2014/main" id="{9F28A797-6798-78D4-6557-B0C9CAE622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6756400" y="1049059"/>
                <a:ext cx="5204070" cy="5243102"/>
              </a:xfrm>
              <a:prstGeom prst="rect">
                <a:avLst/>
              </a:prstGeom>
              <a:blipFill>
                <a:blip r:embed="rId2"/>
                <a:stretch>
                  <a:fillRect l="-2459" t="-58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9D102922-31CB-BBE6-2AA2-D6D32CBA2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525" y="-3562"/>
            <a:ext cx="10515600" cy="1325563"/>
          </a:xfrm>
        </p:spPr>
        <p:txBody>
          <a:bodyPr/>
          <a:lstStyle/>
          <a:p>
            <a:r>
              <a:rPr lang="en-IN" b="1" dirty="0"/>
              <a:t>Literature Review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C6346AE-7C30-9454-0E6F-0D0B149E934C}"/>
              </a:ext>
            </a:extLst>
          </p:cNvPr>
          <p:cNvSpPr/>
          <p:nvPr/>
        </p:nvSpPr>
        <p:spPr>
          <a:xfrm>
            <a:off x="508000" y="1667933"/>
            <a:ext cx="1820333" cy="1240896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K</a:t>
            </a:r>
            <a:endParaRPr lang="en-IN" sz="4800" b="1" dirty="0">
              <a:solidFill>
                <a:schemeClr val="tx1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CE828E9-2CD2-84BE-8E92-0F56D209AB95}"/>
              </a:ext>
            </a:extLst>
          </p:cNvPr>
          <p:cNvSpPr/>
          <p:nvPr/>
        </p:nvSpPr>
        <p:spPr>
          <a:xfrm>
            <a:off x="3539067" y="1667933"/>
            <a:ext cx="1820333" cy="1240896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D</a:t>
            </a:r>
            <a:endParaRPr lang="en-IN" sz="4800" b="1" dirty="0">
              <a:solidFill>
                <a:schemeClr val="tx1"/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DC62A35-BC43-1600-AED8-00AFD38EF772}"/>
              </a:ext>
            </a:extLst>
          </p:cNvPr>
          <p:cNvCxnSpPr/>
          <p:nvPr/>
        </p:nvCxnSpPr>
        <p:spPr>
          <a:xfrm>
            <a:off x="231530" y="4631267"/>
            <a:ext cx="586447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EFBAF46-218D-22C1-2998-C57009E61FE1}"/>
              </a:ext>
            </a:extLst>
          </p:cNvPr>
          <p:cNvCxnSpPr/>
          <p:nvPr/>
        </p:nvCxnSpPr>
        <p:spPr>
          <a:xfrm>
            <a:off x="651933" y="5435600"/>
            <a:ext cx="149013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FE2C1A9-8551-D4D7-CA65-2F88AED62368}"/>
              </a:ext>
            </a:extLst>
          </p:cNvPr>
          <p:cNvCxnSpPr/>
          <p:nvPr/>
        </p:nvCxnSpPr>
        <p:spPr>
          <a:xfrm>
            <a:off x="651933" y="3044439"/>
            <a:ext cx="0" cy="1368547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4D39BD0-95BE-6B5D-5E77-55EAE7876226}"/>
              </a:ext>
            </a:extLst>
          </p:cNvPr>
          <p:cNvCxnSpPr/>
          <p:nvPr/>
        </p:nvCxnSpPr>
        <p:spPr>
          <a:xfrm flipV="1">
            <a:off x="2260600" y="3044439"/>
            <a:ext cx="0" cy="130742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BFC891C-7870-0EAE-5B3F-EE689736F198}"/>
              </a:ext>
            </a:extLst>
          </p:cNvPr>
          <p:cNvCxnSpPr/>
          <p:nvPr/>
        </p:nvCxnSpPr>
        <p:spPr>
          <a:xfrm>
            <a:off x="3716867" y="3013879"/>
            <a:ext cx="0" cy="1368547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FCE515A-A71A-30B2-DBB0-1C71F7802052}"/>
              </a:ext>
            </a:extLst>
          </p:cNvPr>
          <p:cNvCxnSpPr/>
          <p:nvPr/>
        </p:nvCxnSpPr>
        <p:spPr>
          <a:xfrm flipV="1">
            <a:off x="5232400" y="3016896"/>
            <a:ext cx="0" cy="130742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87D8475-1F01-2C5B-7403-206D082CF18C}"/>
              </a:ext>
            </a:extLst>
          </p:cNvPr>
          <p:cNvCxnSpPr>
            <a:cxnSpLocks/>
          </p:cNvCxnSpPr>
          <p:nvPr/>
        </p:nvCxnSpPr>
        <p:spPr>
          <a:xfrm>
            <a:off x="2413000" y="5435600"/>
            <a:ext cx="112606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2DC2841-0DA8-6F5D-7436-5C5A582B7A68}"/>
              </a:ext>
            </a:extLst>
          </p:cNvPr>
          <p:cNvCxnSpPr/>
          <p:nvPr/>
        </p:nvCxnSpPr>
        <p:spPr>
          <a:xfrm>
            <a:off x="3801533" y="5435600"/>
            <a:ext cx="149013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67F80C71-5866-9A13-A6FD-D2FD41BE51DB}"/>
              </a:ext>
            </a:extLst>
          </p:cNvPr>
          <p:cNvSpPr txBox="1"/>
          <p:nvPr/>
        </p:nvSpPr>
        <p:spPr>
          <a:xfrm>
            <a:off x="453802" y="4802601"/>
            <a:ext cx="4315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t</a:t>
            </a:r>
            <a:r>
              <a:rPr lang="en-US" sz="2800" b="1" baseline="-25000" dirty="0"/>
              <a:t>1</a:t>
            </a:r>
            <a:endParaRPr lang="en-IN" sz="2000" b="1" baseline="-250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A5B36D5-C7EB-9A31-4364-1B759604A675}"/>
              </a:ext>
            </a:extLst>
          </p:cNvPr>
          <p:cNvSpPr txBox="1"/>
          <p:nvPr/>
        </p:nvSpPr>
        <p:spPr>
          <a:xfrm>
            <a:off x="2044836" y="4802601"/>
            <a:ext cx="4315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t</a:t>
            </a:r>
            <a:r>
              <a:rPr lang="en-US" sz="2800" b="1" baseline="-25000" dirty="0"/>
              <a:t>2</a:t>
            </a:r>
            <a:endParaRPr lang="en-IN" sz="2000" b="1" baseline="-250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A1867DD-8A53-462D-1A2F-136E44A580D4}"/>
              </a:ext>
            </a:extLst>
          </p:cNvPr>
          <p:cNvSpPr txBox="1"/>
          <p:nvPr/>
        </p:nvSpPr>
        <p:spPr>
          <a:xfrm>
            <a:off x="3493334" y="4824769"/>
            <a:ext cx="4315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t</a:t>
            </a:r>
            <a:r>
              <a:rPr lang="en-US" sz="2800" b="1" baseline="-25000" dirty="0"/>
              <a:t>3</a:t>
            </a:r>
            <a:endParaRPr lang="en-IN" sz="2000" b="1" baseline="-250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01E9711-AFA3-C46C-BC7D-7EB2C40193AC}"/>
              </a:ext>
            </a:extLst>
          </p:cNvPr>
          <p:cNvSpPr txBox="1"/>
          <p:nvPr/>
        </p:nvSpPr>
        <p:spPr>
          <a:xfrm>
            <a:off x="5173831" y="4830003"/>
            <a:ext cx="4315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t</a:t>
            </a:r>
            <a:r>
              <a:rPr lang="en-US" sz="2800" b="1" baseline="-25000" dirty="0"/>
              <a:t>4</a:t>
            </a:r>
            <a:endParaRPr lang="en-IN" sz="2000" b="1" baseline="-250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95E60E1-53EC-D5AE-5983-89555F3FE525}"/>
              </a:ext>
            </a:extLst>
          </p:cNvPr>
          <p:cNvSpPr txBox="1"/>
          <p:nvPr/>
        </p:nvSpPr>
        <p:spPr>
          <a:xfrm>
            <a:off x="669566" y="5740400"/>
            <a:ext cx="1472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K- Dwell time</a:t>
            </a:r>
            <a:endParaRPr lang="en-IN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99ED71B-00D9-468D-D47D-CB7106D5035E}"/>
              </a:ext>
            </a:extLst>
          </p:cNvPr>
          <p:cNvSpPr txBox="1"/>
          <p:nvPr/>
        </p:nvSpPr>
        <p:spPr>
          <a:xfrm>
            <a:off x="2191517" y="5735532"/>
            <a:ext cx="1668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K-D Flight time</a:t>
            </a:r>
            <a:endParaRPr lang="en-IN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7981AFE-7043-9DF3-F7F8-587B9939E4AF}"/>
              </a:ext>
            </a:extLst>
          </p:cNvPr>
          <p:cNvSpPr txBox="1"/>
          <p:nvPr/>
        </p:nvSpPr>
        <p:spPr>
          <a:xfrm>
            <a:off x="3880132" y="5740400"/>
            <a:ext cx="1555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D- Dwell time</a:t>
            </a:r>
            <a:endParaRPr lang="en-IN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A95851A-04DB-4A0C-E173-49125846E3B2}"/>
              </a:ext>
            </a:extLst>
          </p:cNvPr>
          <p:cNvSpPr txBox="1"/>
          <p:nvPr/>
        </p:nvSpPr>
        <p:spPr>
          <a:xfrm>
            <a:off x="5892801" y="3998907"/>
            <a:ext cx="3097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t</a:t>
            </a:r>
            <a:endParaRPr lang="en-IN" sz="2000" b="1" baseline="-25000" dirty="0"/>
          </a:p>
        </p:txBody>
      </p:sp>
    </p:spTree>
    <p:extLst>
      <p:ext uri="{BB962C8B-B14F-4D97-AF65-F5344CB8AC3E}">
        <p14:creationId xmlns:p14="http://schemas.microsoft.com/office/powerpoint/2010/main" val="2946143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20DC4-5437-E7CD-B318-C1FC22212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A3639-1A4C-9A17-9290-F1BCB1E59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7194"/>
            <a:ext cx="10515600" cy="1325563"/>
          </a:xfrm>
        </p:spPr>
        <p:txBody>
          <a:bodyPr/>
          <a:lstStyle/>
          <a:p>
            <a:r>
              <a:rPr lang="en-IN" b="1" dirty="0"/>
              <a:t>Literature Review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2">
                <a:extLst>
                  <a:ext uri="{FF2B5EF4-FFF2-40B4-BE49-F238E27FC236}">
                    <a16:creationId xmlns:a16="http://schemas.microsoft.com/office/drawing/2014/main" id="{89EA18A3-C64D-4305-8D98-E0D97EDFB80F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770468" y="1452179"/>
                <a:ext cx="10883052" cy="58918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US" b="1" dirty="0"/>
                  <a:t>Metric Modification</a:t>
                </a:r>
                <a:r>
                  <a:rPr lang="en-US" dirty="0"/>
                  <a:t>: Reduced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𝐷𝑈𝑡𝑜𝑡𝑎𝑙</m:t>
                    </m:r>
                  </m:oMath>
                </a14:m>
                <a:r>
                  <a:rPr lang="en-US" dirty="0"/>
                  <a:t> weight by factor 3 in </a:t>
                </a:r>
                <a:r>
                  <a:rPr lang="en-US" dirty="0">
                    <a:solidFill>
                      <a:srgbClr val="0070C0"/>
                    </a:solidFill>
                  </a:rPr>
                  <a:t>Manhattan</a:t>
                </a:r>
                <a:r>
                  <a:rPr lang="en-US" dirty="0"/>
                  <a:t> distance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IN" i="1" dirty="0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 dirty="0" err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i="1" dirty="0" err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i="1" dirty="0" err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IN" i="1" dirty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𝑥𝐷𝑈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baseline="-25000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𝑦𝐷𝑈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baseline="-25000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</m:nary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𝑥𝐷𝑈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 baseline="-25000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𝑦𝐷𝑈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 baseline="-25000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</m:nary>
                  </m:oMath>
                </a14:m>
                <a:br>
                  <a:rPr lang="en-US" baseline="-25000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𝑥𝐷𝑈𝑡𝑜𝑡𝑎𝑙</m:t>
                                </m:r>
                                <m:r>
                                  <a:rPr lang="en-US" i="1" baseline="-25000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𝑦𝐷𝑈𝑡𝑜𝑡𝑎𝑙𝑖</m:t>
                                </m:r>
                              </m:num>
                              <m:den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den>
                            </m:f>
                          </m:e>
                        </m:d>
                      </m:e>
                    </m:nary>
                  </m:oMath>
                </a14:m>
                <a:endParaRPr lang="en-US" b="0" i="0" dirty="0">
                  <a:effectLst/>
                  <a:latin typeface="Calibri"/>
                  <a:ea typeface="Calibri"/>
                  <a:cs typeface="Calibri"/>
                </a:endParaRPr>
              </a:p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en-US" dirty="0"/>
              </a:p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dirty="0"/>
                  <a:t>where C = 3 was found to be optima</a:t>
                </a:r>
                <a:r>
                  <a:rPr lang="en-US" dirty="0">
                    <a:latin typeface="Calibri"/>
                    <a:ea typeface="Calibri"/>
                    <a:cs typeface="Calibri"/>
                  </a:rPr>
                  <a:t>l</a:t>
                </a:r>
              </a:p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en-US" dirty="0">
                  <a:latin typeface="Calibri"/>
                  <a:ea typeface="Calibri"/>
                  <a:cs typeface="Calibri"/>
                </a:endParaRPr>
              </a:p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dirty="0"/>
                  <a:t>Reported results showed </a:t>
                </a:r>
                <a:r>
                  <a:rPr lang="en-US" b="1" dirty="0"/>
                  <a:t>38.53%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rgbClr val="00B0F0"/>
                    </a:solidFill>
                  </a:rPr>
                  <a:t>EER</a:t>
                </a:r>
                <a:r>
                  <a:rPr lang="en-US" dirty="0"/>
                  <a:t> improvement (5.32% → 3.27%).</a:t>
                </a:r>
                <a:endParaRPr lang="en-US" b="0" i="0" dirty="0">
                  <a:effectLst/>
                  <a:latin typeface="Calibri"/>
                  <a:ea typeface="Calibri"/>
                  <a:cs typeface="Calibri"/>
                </a:endParaRPr>
              </a:p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endParaRPr lang="en-US" b="0" i="0" dirty="0">
                  <a:effectLst/>
                  <a:latin typeface="Calibri"/>
                  <a:ea typeface="Calibri"/>
                  <a:cs typeface="Calibri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tabLst/>
                </a:pPr>
                <a:endParaRPr kumimoji="0" lang="en-US" alt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5" name="Rectangle 2">
                <a:extLst>
                  <a:ext uri="{FF2B5EF4-FFF2-40B4-BE49-F238E27FC236}">
                    <a16:creationId xmlns:a16="http://schemas.microsoft.com/office/drawing/2014/main" id="{89EA18A3-C64D-4305-8D98-E0D97EDFB8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770468" y="1452179"/>
                <a:ext cx="10883052" cy="5891869"/>
              </a:xfrm>
              <a:prstGeom prst="rect">
                <a:avLst/>
              </a:prstGeom>
              <a:blipFill>
                <a:blip r:embed="rId2"/>
                <a:stretch>
                  <a:fillRect l="-1176" t="-620" r="-22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1521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06703-3DD0-00C2-C486-35DDDED3F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53960"/>
            <a:ext cx="3932237" cy="791497"/>
          </a:xfrm>
        </p:spPr>
        <p:txBody>
          <a:bodyPr>
            <a:normAutofit fontScale="90000"/>
          </a:bodyPr>
          <a:lstStyle/>
          <a:p>
            <a:r>
              <a:rPr lang="en-US" sz="6000" b="1" dirty="0"/>
              <a:t>Dataset</a:t>
            </a:r>
            <a:endParaRPr lang="en-IN" sz="4400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283B94-CD09-EA45-AD4F-ED179FF30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65667" y="1430594"/>
            <a:ext cx="4597399" cy="419258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ea typeface="Calibri"/>
                <a:cs typeface="Calibri"/>
              </a:rPr>
              <a:t>Given in different </a:t>
            </a:r>
            <a:r>
              <a:rPr lang="en-US" sz="2800" dirty="0">
                <a:solidFill>
                  <a:srgbClr val="00B050"/>
                </a:solidFill>
                <a:ea typeface="Calibri"/>
                <a:cs typeface="Calibri"/>
              </a:rPr>
              <a:t>paper</a:t>
            </a:r>
            <a:r>
              <a:rPr lang="en-US" sz="2800" dirty="0">
                <a:ea typeface="Calibri"/>
                <a:cs typeface="Calibri"/>
              </a:rPr>
              <a:t> “</a:t>
            </a:r>
            <a:r>
              <a:rPr lang="en-US" sz="2800" dirty="0"/>
              <a:t>Shared Data Set for Free-Text Keystroke Dynamics Authentication Algorithms “</a:t>
            </a:r>
            <a:endParaRPr lang="en-US" sz="2800" dirty="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80 users (35M/44F/1 unspecified)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410,633 key events (200,299 typed keys)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Romanian language free-text input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1000-key sequences (160 total segments)</a:t>
            </a:r>
            <a:endParaRPr lang="en-QA" sz="2800" dirty="0"/>
          </a:p>
          <a:p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ED9868-EB99-8753-47C2-0DD0E8BB2F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2136" y="1232301"/>
            <a:ext cx="6670397" cy="41925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1A62FD-D777-FF5B-363E-9496905AA3E7}"/>
              </a:ext>
            </a:extLst>
          </p:cNvPr>
          <p:cNvSpPr txBox="1"/>
          <p:nvPr/>
        </p:nvSpPr>
        <p:spPr>
          <a:xfrm>
            <a:off x="6798733" y="5253850"/>
            <a:ext cx="3698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Fig.</a:t>
            </a:r>
            <a:r>
              <a:rPr lang="en-US" b="1" dirty="0" err="1"/>
              <a:t>The</a:t>
            </a:r>
            <a:r>
              <a:rPr lang="en-US" b="1" dirty="0"/>
              <a:t> platform for data acquisition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585129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5B6AF-55F6-2003-1D57-C32A73B54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A1900-FF6A-6F34-1120-66C241ECB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734" y="2440515"/>
            <a:ext cx="6070599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Data Processing</a:t>
            </a:r>
          </a:p>
          <a:p>
            <a:pPr lvl="1"/>
            <a:r>
              <a:rPr lang="en-US" dirty="0"/>
              <a:t>Parse raw logs (key codes, timestamps)</a:t>
            </a:r>
          </a:p>
          <a:p>
            <a:pPr lvl="1"/>
            <a:r>
              <a:rPr lang="en-US" dirty="0"/>
              <a:t>Segment into 1000-key blocks</a:t>
            </a:r>
          </a:p>
          <a:p>
            <a:pPr lvl="1"/>
            <a:r>
              <a:rPr lang="en-US" dirty="0"/>
              <a:t>Extract </a:t>
            </a:r>
            <a:r>
              <a:rPr lang="en-US" dirty="0">
                <a:solidFill>
                  <a:srgbClr val="FF0000"/>
                </a:solidFill>
              </a:rPr>
              <a:t>digraphs</a:t>
            </a:r>
            <a:r>
              <a:rPr lang="en-US" dirty="0"/>
              <a:t> &amp; timing features </a:t>
            </a:r>
          </a:p>
          <a:p>
            <a:pPr marL="457200" lvl="1" indent="0">
              <a:buNone/>
            </a:pPr>
            <a:r>
              <a:rPr lang="en-US" dirty="0"/>
              <a:t>	(DU1, DU2, </a:t>
            </a:r>
            <a:r>
              <a:rPr lang="en-US" dirty="0" err="1"/>
              <a:t>DUtotal</a:t>
            </a:r>
            <a:r>
              <a:rPr lang="en-US" dirty="0"/>
              <a:t>)</a:t>
            </a:r>
          </a:p>
          <a:p>
            <a:r>
              <a:rPr lang="en-US" dirty="0"/>
              <a:t>Feature Extraction</a:t>
            </a:r>
          </a:p>
          <a:p>
            <a:pPr lvl="1"/>
            <a:r>
              <a:rPr lang="en-US" dirty="0"/>
              <a:t>Select top 12 frequent </a:t>
            </a:r>
            <a:r>
              <a:rPr lang="en-US" dirty="0">
                <a:solidFill>
                  <a:srgbClr val="FF0000"/>
                </a:solidFill>
              </a:rPr>
              <a:t>digraphs</a:t>
            </a:r>
            <a:r>
              <a:rPr lang="en-US" dirty="0"/>
              <a:t> (global)</a:t>
            </a:r>
          </a:p>
          <a:p>
            <a:pPr lvl="1"/>
            <a:r>
              <a:rPr lang="en-US" dirty="0"/>
              <a:t>Build vectors: mean(DU1/DU2/</a:t>
            </a:r>
            <a:r>
              <a:rPr lang="en-US" dirty="0" err="1"/>
              <a:t>DUtotal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NaN</a:t>
            </a:r>
            <a:r>
              <a:rPr lang="en-US" dirty="0"/>
              <a:t> for missing </a:t>
            </a:r>
            <a:r>
              <a:rPr lang="en-US" dirty="0">
                <a:solidFill>
                  <a:srgbClr val="FF0000"/>
                </a:solidFill>
              </a:rPr>
              <a:t>digraphs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466AAE7-262A-451E-D33A-1E97A601C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/>
              <a:t>Implementation methodology</a:t>
            </a:r>
            <a:endParaRPr lang="en-IN" b="1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A522A71-4418-C974-E954-745ECEA31CD8}"/>
              </a:ext>
            </a:extLst>
          </p:cNvPr>
          <p:cNvSpPr txBox="1">
            <a:spLocks/>
          </p:cNvSpPr>
          <p:nvPr/>
        </p:nvSpPr>
        <p:spPr>
          <a:xfrm>
            <a:off x="5926667" y="1842559"/>
            <a:ext cx="6070599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 eaLnBrk="1" latinLnBrk="0" hangingPunct="1">
              <a:lnSpc>
                <a:spcPct val="90000"/>
              </a:lnSpc>
              <a:spcBef>
                <a:spcPts val="1000"/>
              </a:spcBef>
              <a:buClrTx/>
              <a:buSzPts val="1800"/>
              <a:buNone/>
            </a:pPr>
            <a:endParaRPr lang="en-IN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76008F4-96AD-B72F-6C11-876F4929414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26666" y="2440515"/>
                <a:ext cx="6070599" cy="4351338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Metrics</a:t>
                </a:r>
              </a:p>
              <a:p>
                <a:pPr lvl="1"/>
                <a:r>
                  <a:rPr lang="en-US" dirty="0"/>
                  <a:t>Standard </a:t>
                </a:r>
                <a:r>
                  <a:rPr lang="en-US" dirty="0">
                    <a:solidFill>
                      <a:srgbClr val="0070C0"/>
                    </a:solidFill>
                  </a:rPr>
                  <a:t>Manhattan</a:t>
                </a:r>
              </a:p>
              <a:p>
                <a:pPr lvl="1"/>
                <a:r>
                  <a:rPr lang="en-US" dirty="0"/>
                  <a:t>Modified </a:t>
                </a:r>
                <a:r>
                  <a:rPr lang="en-US" dirty="0">
                    <a:solidFill>
                      <a:srgbClr val="0070C0"/>
                    </a:solidFill>
                  </a:rPr>
                  <a:t>Manhattan</a:t>
                </a:r>
                <a:r>
                  <a:rPr lang="en-US" dirty="0"/>
                  <a:t>:</a:t>
                </a:r>
                <a:r>
                  <a:rPr lang="en-IN" b="0" i="0" dirty="0" err="1">
                    <a:effectLst/>
                    <a:latin typeface="fkGroteskNeue"/>
                  </a:rPr>
                  <a:t>DUtotal</a:t>
                </a:r>
                <a:r>
                  <a:rPr lang="en-IN" b="0" i="0" dirty="0">
                    <a:effectLst/>
                    <a:latin typeface="fkGroteskNeue"/>
                  </a:rPr>
                  <a:t>/3 weighting</a:t>
                </a:r>
                <a:endParaRPr lang="en-US" dirty="0"/>
              </a:p>
              <a:p>
                <a:pPr lvl="1"/>
                <a:r>
                  <a:rPr lang="en-US" dirty="0"/>
                  <a:t>Distance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𝑓𝑒𝑎𝑡𝑢𝑟𝑒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𝑑𝑖𝑓𝑓𝑒𝑟𝑒𝑛𝑐𝑒𝑠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Authentication</a:t>
                </a:r>
              </a:p>
              <a:p>
                <a:pPr lvl="1"/>
                <a:r>
                  <a:rPr lang="en-US" dirty="0"/>
                  <a:t>Leave-one-out evaluation</a:t>
                </a:r>
              </a:p>
              <a:p>
                <a:pPr lvl="1"/>
                <a:r>
                  <a:rPr lang="en-US" dirty="0"/>
                  <a:t>Threshold sweep(FAR/FRR sweep)</a:t>
                </a:r>
              </a:p>
              <a:p>
                <a:pPr lvl="1"/>
                <a:r>
                  <a:rPr lang="en-US" dirty="0">
                    <a:solidFill>
                      <a:srgbClr val="00B0F0"/>
                    </a:solidFill>
                  </a:rPr>
                  <a:t>EER</a:t>
                </a:r>
                <a:r>
                  <a:rPr lang="en-US" dirty="0"/>
                  <a:t> 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𝐹𝐴𝑅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𝐹𝑅𝑅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76008F4-96AD-B72F-6C11-876F492941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6666" y="2440515"/>
                <a:ext cx="6070599" cy="4351338"/>
              </a:xfrm>
              <a:prstGeom prst="rect">
                <a:avLst/>
              </a:prstGeom>
              <a:blipFill>
                <a:blip r:embed="rId2"/>
                <a:stretch>
                  <a:fillRect l="-1807" t="-2241" r="-10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4EE097E-C5EB-D51D-50D6-D4F79AA92531}"/>
              </a:ext>
            </a:extLst>
          </p:cNvPr>
          <p:cNvSpPr txBox="1"/>
          <p:nvPr/>
        </p:nvSpPr>
        <p:spPr>
          <a:xfrm>
            <a:off x="516467" y="1533582"/>
            <a:ext cx="111590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Code was developed to validate the </a:t>
            </a:r>
            <a:r>
              <a:rPr lang="en-US" sz="2400" dirty="0">
                <a:solidFill>
                  <a:srgbClr val="00B050"/>
                </a:solidFill>
              </a:rPr>
              <a:t>paper</a:t>
            </a:r>
            <a:r>
              <a:rPr lang="en-US" sz="2400" dirty="0"/>
              <a:t>'s results, adhering to its parameters and making necessary assumptions where specifics were omitted.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57316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8E88C2D-4F50-E8D1-EFEF-5C045492E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286" y="3860"/>
            <a:ext cx="6093281" cy="1852326"/>
          </a:xfrm>
        </p:spPr>
        <p:txBody>
          <a:bodyPr anchor="ctr">
            <a:normAutofit/>
          </a:bodyPr>
          <a:lstStyle/>
          <a:p>
            <a:r>
              <a:rPr lang="en-IN" b="1" dirty="0"/>
              <a:t>Results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F244B6-F1C4-5E50-8972-DC19CA9CE68D}"/>
              </a:ext>
            </a:extLst>
          </p:cNvPr>
          <p:cNvSpPr txBox="1"/>
          <p:nvPr/>
        </p:nvSpPr>
        <p:spPr>
          <a:xfrm>
            <a:off x="466685" y="5506959"/>
            <a:ext cx="5338240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</a:rPr>
              <a:t>EER</a:t>
            </a:r>
            <a:r>
              <a:rPr lang="en-US" sz="2800" dirty="0"/>
              <a:t> Comparison Between Distance Metric</a:t>
            </a:r>
            <a:endParaRPr lang="en-IN" sz="2800" dirty="0">
              <a:solidFill>
                <a:srgbClr val="00B0F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5B1199-32F9-82AA-F4F2-07FEFBF05AFB}"/>
              </a:ext>
            </a:extLst>
          </p:cNvPr>
          <p:cNvSpPr txBox="1"/>
          <p:nvPr/>
        </p:nvSpPr>
        <p:spPr>
          <a:xfrm>
            <a:off x="7117664" y="5477629"/>
            <a:ext cx="4607651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800" dirty="0">
                <a:solidFill>
                  <a:srgbClr val="FF0000"/>
                </a:solidFill>
              </a:rPr>
              <a:t>Digraph</a:t>
            </a:r>
            <a:r>
              <a:rPr lang="en-IN" sz="2800" dirty="0"/>
              <a:t> Count Analysis</a:t>
            </a:r>
            <a:endParaRPr lang="en-IN" sz="2800" dirty="0">
              <a:solidFill>
                <a:srgbClr val="00B0F0"/>
              </a:solidFill>
            </a:endParaRPr>
          </a:p>
        </p:txBody>
      </p:sp>
      <p:pic>
        <p:nvPicPr>
          <p:cNvPr id="3" name="Picture 2" descr="A graph with red and blue lines&#10;&#10;AI-generated content may be incorrect.">
            <a:extLst>
              <a:ext uri="{FF2B5EF4-FFF2-40B4-BE49-F238E27FC236}">
                <a16:creationId xmlns:a16="http://schemas.microsoft.com/office/drawing/2014/main" id="{B6FAC6C5-99A7-2E82-479E-735267F3D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685" y="1650696"/>
            <a:ext cx="5629315" cy="3826933"/>
          </a:xfrm>
          <a:prstGeom prst="rect">
            <a:avLst/>
          </a:prstGeom>
        </p:spPr>
      </p:pic>
      <p:pic>
        <p:nvPicPr>
          <p:cNvPr id="5" name="Picture 4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1A0A1E20-6A3B-F422-5F20-BFBD38584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5421" y="1498600"/>
            <a:ext cx="5909894" cy="3964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145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B704D-D2D3-45F8-F0B1-C4D2AA31B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D05C7-A1FE-9038-D9AA-EA825E096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0657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20.6% relative </a:t>
            </a:r>
            <a:r>
              <a:rPr lang="en-US" dirty="0">
                <a:solidFill>
                  <a:srgbClr val="00B0F0"/>
                </a:solidFill>
              </a:rPr>
              <a:t>EER</a:t>
            </a:r>
            <a:r>
              <a:rPr lang="en-US" dirty="0"/>
              <a:t> improvement with modified metric.</a:t>
            </a:r>
            <a:endParaRPr lang="en-IN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C31E203-E709-63B2-AC02-59DCEF5CA1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1839341"/>
              </p:ext>
            </p:extLst>
          </p:nvPr>
        </p:nvGraphicFramePr>
        <p:xfrm>
          <a:off x="1507067" y="2856221"/>
          <a:ext cx="8669865" cy="155491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889955">
                  <a:extLst>
                    <a:ext uri="{9D8B030D-6E8A-4147-A177-3AD203B41FA5}">
                      <a16:colId xmlns:a16="http://schemas.microsoft.com/office/drawing/2014/main" val="3481143030"/>
                    </a:ext>
                  </a:extLst>
                </a:gridCol>
                <a:gridCol w="2889955">
                  <a:extLst>
                    <a:ext uri="{9D8B030D-6E8A-4147-A177-3AD203B41FA5}">
                      <a16:colId xmlns:a16="http://schemas.microsoft.com/office/drawing/2014/main" val="1571535845"/>
                    </a:ext>
                  </a:extLst>
                </a:gridCol>
                <a:gridCol w="2889955">
                  <a:extLst>
                    <a:ext uri="{9D8B030D-6E8A-4147-A177-3AD203B41FA5}">
                      <a16:colId xmlns:a16="http://schemas.microsoft.com/office/drawing/2014/main" val="1557944862"/>
                    </a:ext>
                  </a:extLst>
                </a:gridCol>
              </a:tblGrid>
              <a:tr h="518304">
                <a:tc>
                  <a:txBody>
                    <a:bodyPr/>
                    <a:lstStyle/>
                    <a:p>
                      <a:r>
                        <a:rPr lang="en-US" dirty="0"/>
                        <a:t>Metric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Our </a:t>
                      </a:r>
                      <a:r>
                        <a:rPr lang="en-US" dirty="0">
                          <a:solidFill>
                            <a:srgbClr val="00B0F0"/>
                          </a:solidFill>
                        </a:rPr>
                        <a:t>EER</a:t>
                      </a:r>
                      <a:endParaRPr lang="en-IN" dirty="0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Paper</a:t>
                      </a:r>
                      <a:r>
                        <a:rPr lang="en-US" dirty="0"/>
                        <a:t>’s </a:t>
                      </a:r>
                      <a:r>
                        <a:rPr lang="en-US" dirty="0">
                          <a:solidFill>
                            <a:srgbClr val="00B0F0"/>
                          </a:solidFill>
                        </a:rPr>
                        <a:t>EER</a:t>
                      </a:r>
                      <a:endParaRPr lang="en-IN" dirty="0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2736644"/>
                  </a:ext>
                </a:extLst>
              </a:tr>
              <a:tr h="518304">
                <a:tc>
                  <a:txBody>
                    <a:bodyPr/>
                    <a:lstStyle/>
                    <a:p>
                      <a:r>
                        <a:rPr lang="en-IN" dirty="0"/>
                        <a:t>Standard </a:t>
                      </a:r>
                      <a:r>
                        <a:rPr lang="en-IN" dirty="0">
                          <a:solidFill>
                            <a:srgbClr val="0070C0"/>
                          </a:solidFill>
                        </a:rPr>
                        <a:t>Manhattan</a:t>
                      </a:r>
                      <a:r>
                        <a:rPr lang="en-IN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5.32%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346045"/>
                  </a:ext>
                </a:extLst>
              </a:tr>
              <a:tr h="518304">
                <a:tc>
                  <a:txBody>
                    <a:bodyPr/>
                    <a:lstStyle/>
                    <a:p>
                      <a:r>
                        <a:rPr lang="en-IN" dirty="0"/>
                        <a:t>Modified </a:t>
                      </a:r>
                      <a:r>
                        <a:rPr lang="en-IN" dirty="0">
                          <a:solidFill>
                            <a:srgbClr val="0070C0"/>
                          </a:solidFill>
                        </a:rPr>
                        <a:t>Manhattan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7.75%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3.27%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362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2449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8CEED-6D36-BDF9-A392-FAE56E59D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44CC2-05F4-15EA-EEB8-C8C425097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B3B4F-AE43-98B8-F0F0-DFDC4E927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0657"/>
            <a:ext cx="10515600" cy="43513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b="1" i="0" dirty="0">
                <a:effectLst/>
              </a:rPr>
              <a:t>Discrepancy Factors</a:t>
            </a:r>
            <a:r>
              <a:rPr lang="en-US" b="0" i="0" dirty="0">
                <a:effectLst/>
              </a:rPr>
              <a:t>: </a:t>
            </a:r>
          </a:p>
          <a:p>
            <a:r>
              <a:rPr lang="en-US" b="1" dirty="0"/>
              <a:t>Ambiguous Data Segmentation</a:t>
            </a:r>
            <a:r>
              <a:rPr lang="en-US" dirty="0"/>
              <a:t>: The </a:t>
            </a:r>
            <a:r>
              <a:rPr lang="en-US" dirty="0">
                <a:solidFill>
                  <a:srgbClr val="00B050"/>
                </a:solidFill>
              </a:rPr>
              <a:t>paper</a:t>
            </a:r>
            <a:r>
              <a:rPr lang="en-US" dirty="0"/>
              <a:t> divides data into 1000-key sequences but does not specify how partial or short sequences are handled, leading to possible differences in implementation.</a:t>
            </a:r>
            <a:endParaRPr lang="en-US" b="0" i="0" dirty="0">
              <a:effectLst/>
            </a:endParaRPr>
          </a:p>
          <a:p>
            <a:r>
              <a:rPr lang="en-US" b="1" dirty="0"/>
              <a:t>Unspecified Threshold Selection</a:t>
            </a:r>
            <a:r>
              <a:rPr lang="en-US" dirty="0"/>
              <a:t>: Details on selecting threshold ranges and granularity for </a:t>
            </a:r>
            <a:r>
              <a:rPr lang="en-US" dirty="0">
                <a:solidFill>
                  <a:srgbClr val="00B0F0"/>
                </a:solidFill>
              </a:rPr>
              <a:t>EER</a:t>
            </a:r>
            <a:r>
              <a:rPr lang="en-US" dirty="0"/>
              <a:t> calculation are omitted, making this step open to interpretation.</a:t>
            </a:r>
            <a:endParaRPr lang="en-US" dirty="0">
              <a:ea typeface="Calibri"/>
              <a:cs typeface="Calibri"/>
            </a:endParaRPr>
          </a:p>
          <a:p>
            <a:r>
              <a:rPr lang="en-US" b="1" dirty="0"/>
              <a:t>Unclear Feature Aggregation</a:t>
            </a:r>
            <a:r>
              <a:rPr lang="en-US" dirty="0"/>
              <a:t>: The </a:t>
            </a:r>
            <a:r>
              <a:rPr lang="en-US" dirty="0">
                <a:solidFill>
                  <a:srgbClr val="00B050"/>
                </a:solidFill>
              </a:rPr>
              <a:t>paper</a:t>
            </a:r>
            <a:r>
              <a:rPr lang="en-US" dirty="0"/>
              <a:t> refers to averaging keystroke times per di graph but does not state whether mean or median is used, nor how missing di-graphs are handled, affecting feature consistency.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063398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73700-6F37-2061-F2D4-77710B6B6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Compared both mean and median for feature aggregation, finding median more robust.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</a:rPr>
              <a:t> </a:t>
            </a:r>
            <a:r>
              <a:rPr lang="en-US" dirty="0"/>
              <a:t>Dynamically set threshold ranges based on observed distance values</a:t>
            </a:r>
            <a:r>
              <a:rPr lang="en-US" b="0" i="0" dirty="0">
                <a:solidFill>
                  <a:srgbClr val="000000"/>
                </a:solidFill>
                <a:effectLst/>
              </a:rPr>
              <a:t>. </a:t>
            </a:r>
            <a:endParaRPr lang="en-US" b="0" i="0" dirty="0">
              <a:solidFill>
                <a:srgbClr val="000000"/>
              </a:solidFill>
              <a:effectLst/>
              <a:ea typeface="Calibri"/>
              <a:cs typeface="Calibri"/>
            </a:endParaRPr>
          </a:p>
          <a:p>
            <a:r>
              <a:rPr lang="en-US" dirty="0"/>
              <a:t>Tried IQR-based outlier removal to stabilize feature vectors.</a:t>
            </a:r>
          </a:p>
          <a:p>
            <a:r>
              <a:rPr lang="en-US" dirty="0"/>
              <a:t>Tested various normalization methods (Z-score, min-max, decimal scaling), with Z-score giving the best results.</a:t>
            </a:r>
          </a:p>
          <a:p>
            <a:pPr marL="0" indent="0">
              <a:buNone/>
            </a:pPr>
            <a:r>
              <a:rPr lang="en-US" dirty="0"/>
              <a:t>These adjustments notably reduced </a:t>
            </a:r>
            <a:r>
              <a:rPr lang="en-US" dirty="0">
                <a:solidFill>
                  <a:srgbClr val="00B0F0"/>
                </a:solidFill>
              </a:rPr>
              <a:t>EER</a:t>
            </a:r>
            <a:r>
              <a:rPr lang="en-US" dirty="0"/>
              <a:t>, but remaining discrepancies with the </a:t>
            </a:r>
            <a:r>
              <a:rPr lang="en-US" dirty="0">
                <a:solidFill>
                  <a:srgbClr val="00B050"/>
                </a:solidFill>
              </a:rPr>
              <a:t>papers</a:t>
            </a:r>
            <a:r>
              <a:rPr lang="en-US" dirty="0"/>
              <a:t> reported results may be due to differences in dataset handling, feature extraction, or thresholding approach</a:t>
            </a:r>
            <a:endParaRPr lang="en-IN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1857E7B-5BD8-1414-7310-71A059184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/>
              <a:t>Implementation Adjustments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033855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1885CB-97A0-C343-B3E7-8C6F49079ACF}"/>
              </a:ext>
            </a:extLst>
          </p:cNvPr>
          <p:cNvSpPr txBox="1"/>
          <p:nvPr/>
        </p:nvSpPr>
        <p:spPr>
          <a:xfrm>
            <a:off x="4578693" y="3013501"/>
            <a:ext cx="303461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QA" sz="4800" b="1">
                <a:solidFill>
                  <a:schemeClr val="bg2">
                    <a:lumMod val="10000"/>
                  </a:schemeClr>
                </a:solidFill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868942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DD433-ACB2-A749-AC33-B27DF9D4E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QA" b="1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AC97D-F18C-7E40-9636-F2A88287C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53928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i="1" dirty="0"/>
              <a:t>Augustin-Catalin </a:t>
            </a:r>
            <a:r>
              <a:rPr lang="en-IN" i="1" dirty="0" err="1"/>
              <a:t>Iapa</a:t>
            </a:r>
            <a:r>
              <a:rPr lang="en-IN" i="1" dirty="0"/>
              <a:t> and Vladimir-Ioan Cretu. Modified distance metric that generates better performance for the authentication algorithm based on free-text keystroke dynamics. IEEE 15th International Symposium on Applied Computational Intelligence and Informatics, 2021.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i="1" dirty="0"/>
              <a:t>Augustin-Catalin </a:t>
            </a:r>
            <a:r>
              <a:rPr lang="en-IN" i="1" dirty="0" err="1"/>
              <a:t>Iapa</a:t>
            </a:r>
            <a:r>
              <a:rPr lang="en-IN" i="1" dirty="0"/>
              <a:t> and Vladimir-Ioan Cretu. Shared data set for free-text keystroke dynamics authentication algorithms. Preprints, 2021.</a:t>
            </a:r>
            <a:endParaRPr lang="en-US" i="1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96446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1fe9780-2572-4b59-98ed-c9eb7ed8d0d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5A66C4FCA44F4495BFDA313ED8A454" ma:contentTypeVersion="6" ma:contentTypeDescription="Create a new document." ma:contentTypeScope="" ma:versionID="b612488b92115e579532532817f0fb81">
  <xsd:schema xmlns:xsd="http://www.w3.org/2001/XMLSchema" xmlns:xs="http://www.w3.org/2001/XMLSchema" xmlns:p="http://schemas.microsoft.com/office/2006/metadata/properties" xmlns:ns3="d1fe9780-2572-4b59-98ed-c9eb7ed8d0d9" targetNamespace="http://schemas.microsoft.com/office/2006/metadata/properties" ma:root="true" ma:fieldsID="1634e1855709ed9e5c2898bb79a4384b" ns3:_="">
    <xsd:import namespace="d1fe9780-2572-4b59-98ed-c9eb7ed8d0d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_activity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fe9780-2572-4b59-98ed-c9eb7ed8d0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661F663-6F61-4A68-B35C-40B8F01AFA9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1DA9BF2-3E46-451C-9737-D925CDF00681}">
  <ds:schemaRefs>
    <ds:schemaRef ds:uri="http://www.w3.org/XML/1998/namespace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purl.org/dc/terms/"/>
    <ds:schemaRef ds:uri="d1fe9780-2572-4b59-98ed-c9eb7ed8d0d9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468ACB7E-A5ED-4F10-B1C6-976C3CA394A4}">
  <ds:schemaRefs>
    <ds:schemaRef ds:uri="d1fe9780-2572-4b59-98ed-c9eb7ed8d0d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652</TotalTime>
  <Words>585</Words>
  <Application>Microsoft Office PowerPoint</Application>
  <PresentationFormat>Widescreen</PresentationFormat>
  <Paragraphs>81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fkGroteskNeue</vt:lpstr>
      <vt:lpstr>Office Theme</vt:lpstr>
      <vt:lpstr>Implementation Report</vt:lpstr>
      <vt:lpstr>Literature Review</vt:lpstr>
      <vt:lpstr>Literature Review</vt:lpstr>
      <vt:lpstr>Dataset</vt:lpstr>
      <vt:lpstr>Implementation methodology</vt:lpstr>
      <vt:lpstr>Results</vt:lpstr>
      <vt:lpstr>Results</vt:lpstr>
      <vt:lpstr>Discussion</vt:lpstr>
      <vt:lpstr>Implementation Adjustments</vt:lpstr>
      <vt:lpstr>PowerPoint Presentation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MOHAMMED HAAZIQ JAMAL</cp:lastModifiedBy>
  <cp:revision>6</cp:revision>
  <dcterms:created xsi:type="dcterms:W3CDTF">2021-01-10T14:59:52Z</dcterms:created>
  <dcterms:modified xsi:type="dcterms:W3CDTF">2025-04-26T12:39:02Z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0x010100EF5A66C4FCA44F4495BFDA313ED8A454</vt:lpwstr>
  </property>
</Properties>
</file>